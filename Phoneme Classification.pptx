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410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33DF1E-5F0C-44B9-ABF2-945AC4244CEF}">
  <a:tblStyle styleId="{1933DF1E-5F0C-44B9-ABF2-945AC4244C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410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ciao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90576df72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b90576df7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90576df72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90576df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90576df72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b90576df7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90576df72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b90576df7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0576df72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b90576df7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90576df72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b90576df7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90576df72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b90576df7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90576df72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b90576df7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9264f8e95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b9264f8e9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9264f8e95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9264f8e9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9264f8e95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b9264f8e9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ciao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62050" y="133875"/>
            <a:ext cx="44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Informatica Applicata e Data Analytics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378000" y="4601575"/>
            <a:ext cx="238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Academic Year </a:t>
            </a:r>
            <a:r>
              <a:rPr b="1"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r>
              <a:rPr b="1" i="0" lang="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b="1"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3200" y="1550000"/>
            <a:ext cx="857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77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Phoneme Classification </a:t>
            </a:r>
            <a:endParaRPr b="1"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7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Comparative Study of Machine Learning Approaches</a:t>
            </a:r>
            <a:endParaRPr b="1"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38750" y="2926913"/>
            <a:ext cx="2558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1" i="0" lang="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Alessandro Giuliani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914050" y="2915363"/>
            <a:ext cx="39024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r>
              <a:rPr b="1" i="0" lang="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Francesco Cardia </a:t>
            </a:r>
            <a:r>
              <a:rPr b="0" i="0" lang="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60/</a:t>
            </a:r>
            <a:r>
              <a:rPr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99/00017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Marco Niccolò Loddo </a:t>
            </a:r>
            <a:r>
              <a:rPr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60/99/00022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750" y="82600"/>
            <a:ext cx="33718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4299000" y="128188"/>
            <a:ext cx="4845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i="0" sz="13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i="0" sz="13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t" sz="1300" u="none" cap="none" strike="noStrike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Corso di Laurea Magistrale in Informatica</a:t>
            </a:r>
            <a:endParaRPr b="1" i="0" sz="13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 flipH="1">
            <a:off x="4167580" y="212400"/>
            <a:ext cx="2400" cy="606600"/>
          </a:xfrm>
          <a:prstGeom prst="straightConnector1">
            <a:avLst/>
          </a:prstGeom>
          <a:noFill/>
          <a:ln cap="flat" cmpd="sng" w="9525">
            <a:solidFill>
              <a:srgbClr val="27375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4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67" name="Google Shape;6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8" name="Google Shape;68;p14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" name="Google Shape;69;p14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0" name="Google Shape;70;p14"/>
          <p:cNvSpPr txBox="1"/>
          <p:nvPr/>
        </p:nvSpPr>
        <p:spPr>
          <a:xfrm>
            <a:off x="379825" y="747325"/>
            <a:ext cx="98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" sz="1000" u="none" cap="none" strike="noStrike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065775" y="1734925"/>
            <a:ext cx="63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Phonemes are the </a:t>
            </a:r>
            <a:r>
              <a:rPr b="1" lang="it" sz="1800">
                <a:solidFill>
                  <a:schemeClr val="dk2"/>
                </a:solidFill>
              </a:rPr>
              <a:t>smallest units</a:t>
            </a:r>
            <a:r>
              <a:rPr lang="it" sz="1800">
                <a:solidFill>
                  <a:schemeClr val="dk2"/>
                </a:solidFill>
              </a:rPr>
              <a:t> of sounds in a language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00" y="14257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700" y="3188138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2065775" y="3497300"/>
            <a:ext cx="60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Our aim is to distinguish between </a:t>
            </a:r>
            <a:r>
              <a:rPr b="1" lang="it" sz="1800">
                <a:solidFill>
                  <a:schemeClr val="dk2"/>
                </a:solidFill>
              </a:rPr>
              <a:t>nasal </a:t>
            </a:r>
            <a:r>
              <a:rPr lang="it" sz="1800">
                <a:solidFill>
                  <a:schemeClr val="dk2"/>
                </a:solidFill>
              </a:rPr>
              <a:t>and </a:t>
            </a:r>
            <a:r>
              <a:rPr b="1" lang="it" sz="1800">
                <a:solidFill>
                  <a:schemeClr val="dk2"/>
                </a:solidFill>
              </a:rPr>
              <a:t>oral </a:t>
            </a:r>
            <a:r>
              <a:rPr lang="it" sz="1800">
                <a:solidFill>
                  <a:schemeClr val="dk2"/>
                </a:solidFill>
              </a:rPr>
              <a:t>vowels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5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83" name="Google Shape;8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4" name="Google Shape;84;p15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5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6" name="Google Shape;86;p15"/>
          <p:cNvSpPr txBox="1"/>
          <p:nvPr/>
        </p:nvSpPr>
        <p:spPr>
          <a:xfrm>
            <a:off x="379825" y="747325"/>
            <a:ext cx="98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825" y="1227463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1804675" y="1398025"/>
            <a:ext cx="65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Each record has </a:t>
            </a:r>
            <a:r>
              <a:rPr b="1" lang="it" sz="1800">
                <a:solidFill>
                  <a:schemeClr val="dk2"/>
                </a:solidFill>
              </a:rPr>
              <a:t>5 features</a:t>
            </a:r>
            <a:r>
              <a:rPr lang="it" sz="1800">
                <a:solidFill>
                  <a:schemeClr val="dk2"/>
                </a:solidFill>
              </a:rPr>
              <a:t>: the first 5 normalized harmonics of a sound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825" y="2299172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1748275" y="2608322"/>
            <a:ext cx="66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Phonemes are relieved 3 times at peak, 8 ms before, 8 ms after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825" y="3561925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1748275" y="3732476"/>
            <a:ext cx="669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After a data cleaning, the final </a:t>
            </a:r>
            <a:r>
              <a:rPr lang="it" sz="1800">
                <a:solidFill>
                  <a:schemeClr val="dk2"/>
                </a:solidFill>
              </a:rPr>
              <a:t>dataset</a:t>
            </a:r>
            <a:r>
              <a:rPr lang="it" sz="1800">
                <a:solidFill>
                  <a:schemeClr val="dk2"/>
                </a:solidFill>
              </a:rPr>
              <a:t> has 5404 </a:t>
            </a:r>
            <a:r>
              <a:rPr lang="it" sz="1800">
                <a:solidFill>
                  <a:schemeClr val="dk2"/>
                </a:solidFill>
              </a:rPr>
              <a:t>instances</a:t>
            </a:r>
            <a:r>
              <a:rPr lang="it" sz="1800">
                <a:solidFill>
                  <a:schemeClr val="dk2"/>
                </a:solidFill>
              </a:rPr>
              <a:t> in random order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101" name="Google Shape;10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2" name="Google Shape;102;p16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6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4" name="Google Shape;104;p16"/>
          <p:cNvSpPr txBox="1"/>
          <p:nvPr/>
        </p:nvSpPr>
        <p:spPr>
          <a:xfrm>
            <a:off x="379825" y="747325"/>
            <a:ext cx="98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50" y="1433600"/>
            <a:ext cx="8839203" cy="227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887550" y="4026850"/>
            <a:ext cx="74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Features are </a:t>
            </a:r>
            <a:r>
              <a:rPr b="1" lang="it" sz="1800">
                <a:solidFill>
                  <a:schemeClr val="dk2"/>
                </a:solidFill>
              </a:rPr>
              <a:t>standard scaled</a:t>
            </a:r>
            <a:r>
              <a:rPr lang="it" sz="1800">
                <a:solidFill>
                  <a:schemeClr val="dk2"/>
                </a:solidFill>
              </a:rPr>
              <a:t>.</a:t>
            </a:r>
            <a:r>
              <a:rPr b="1" lang="it" sz="1800">
                <a:solidFill>
                  <a:schemeClr val="dk2"/>
                </a:solidFill>
              </a:rPr>
              <a:t> </a:t>
            </a:r>
            <a:r>
              <a:rPr lang="it" sz="1800">
                <a:solidFill>
                  <a:schemeClr val="dk2"/>
                </a:solidFill>
              </a:rPr>
              <a:t>Classes are </a:t>
            </a:r>
            <a:r>
              <a:rPr b="1" lang="it" sz="1800">
                <a:solidFill>
                  <a:schemeClr val="dk2"/>
                </a:solidFill>
              </a:rPr>
              <a:t>unbalanced</a:t>
            </a:r>
            <a:r>
              <a:rPr b="1" lang="it" sz="1800">
                <a:solidFill>
                  <a:schemeClr val="dk2"/>
                </a:solidFill>
              </a:rPr>
              <a:t> </a:t>
            </a:r>
            <a:r>
              <a:rPr lang="it" sz="1800">
                <a:solidFill>
                  <a:schemeClr val="dk2"/>
                </a:solidFill>
              </a:rPr>
              <a:t>(about 70/30)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7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115" name="Google Shape;11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6" name="Google Shape;116;p17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7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8" name="Google Shape;118;p17"/>
          <p:cNvSpPr txBox="1"/>
          <p:nvPr/>
        </p:nvSpPr>
        <p:spPr>
          <a:xfrm>
            <a:off x="379825" y="747325"/>
            <a:ext cx="111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25" y="1542610"/>
            <a:ext cx="2518213" cy="19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0530" y="1572526"/>
            <a:ext cx="2518826" cy="19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0326" y="1592989"/>
            <a:ext cx="2519050" cy="18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1602750" y="3874913"/>
            <a:ext cx="5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We reduced data dimensionality with </a:t>
            </a:r>
            <a:r>
              <a:rPr b="1" lang="it" sz="1800">
                <a:solidFill>
                  <a:schemeClr val="dk2"/>
                </a:solidFill>
              </a:rPr>
              <a:t>PCA</a:t>
            </a:r>
            <a:r>
              <a:rPr lang="it" sz="1800">
                <a:solidFill>
                  <a:schemeClr val="dk2"/>
                </a:solidFill>
              </a:rPr>
              <a:t>, </a:t>
            </a:r>
            <a:r>
              <a:rPr b="1" lang="it" sz="1800">
                <a:solidFill>
                  <a:schemeClr val="dk2"/>
                </a:solidFill>
              </a:rPr>
              <a:t>LDA</a:t>
            </a:r>
            <a:r>
              <a:rPr lang="it" sz="1800">
                <a:solidFill>
                  <a:schemeClr val="dk2"/>
                </a:solidFill>
              </a:rPr>
              <a:t>, </a:t>
            </a:r>
            <a:r>
              <a:rPr b="1" lang="it" sz="1800">
                <a:solidFill>
                  <a:schemeClr val="dk2"/>
                </a:solidFill>
              </a:rPr>
              <a:t>t-SNE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8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131" name="Google Shape;13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2" name="Google Shape;132;p18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18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18"/>
          <p:cNvSpPr txBox="1"/>
          <p:nvPr/>
        </p:nvSpPr>
        <p:spPr>
          <a:xfrm>
            <a:off x="379825" y="747325"/>
            <a:ext cx="10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18"/>
          <p:cNvGraphicFramePr/>
          <p:nvPr/>
        </p:nvGraphicFramePr>
        <p:xfrm>
          <a:off x="1270000" y="24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{1933DF1E-5F0C-44B9-ABF2-945AC4244CEF}</a:tableStyleId>
              </a:tblPr>
              <a:tblGrid>
                <a:gridCol w="2240625"/>
                <a:gridCol w="1378875"/>
                <a:gridCol w="1412875"/>
                <a:gridCol w="1571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Configuration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Class 0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Class 1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Total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Original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2863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1190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4053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Undersampling (Random)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1190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1190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2380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Oversampling (ADASYN)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2863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2908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5771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</a:tbl>
          </a:graphicData>
        </a:graphic>
      </p:graphicFrame>
      <p:sp>
        <p:nvSpPr>
          <p:cNvPr id="139" name="Google Shape;139;p18"/>
          <p:cNvSpPr txBox="1"/>
          <p:nvPr/>
        </p:nvSpPr>
        <p:spPr>
          <a:xfrm>
            <a:off x="655800" y="1465175"/>
            <a:ext cx="783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To mitigate imbalance we </a:t>
            </a:r>
            <a:r>
              <a:rPr b="1" lang="it" sz="1800">
                <a:solidFill>
                  <a:schemeClr val="dk2"/>
                </a:solidFill>
              </a:rPr>
              <a:t>undersample </a:t>
            </a:r>
            <a:r>
              <a:rPr lang="it" sz="1800">
                <a:solidFill>
                  <a:schemeClr val="dk2"/>
                </a:solidFill>
              </a:rPr>
              <a:t>and </a:t>
            </a:r>
            <a:r>
              <a:rPr b="1" lang="it" sz="1800">
                <a:solidFill>
                  <a:schemeClr val="dk2"/>
                </a:solidFill>
              </a:rPr>
              <a:t>oversample </a:t>
            </a:r>
            <a:r>
              <a:rPr lang="it" sz="1800">
                <a:solidFill>
                  <a:schemeClr val="dk2"/>
                </a:solidFill>
              </a:rPr>
              <a:t>the training set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9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145" name="Google Shape;14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6" name="Google Shape;146;p19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19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" name="Google Shape;148;p19"/>
          <p:cNvSpPr txBox="1"/>
          <p:nvPr/>
        </p:nvSpPr>
        <p:spPr>
          <a:xfrm>
            <a:off x="379825" y="747325"/>
            <a:ext cx="10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79825" y="1039850"/>
            <a:ext cx="81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We compared the performances of several Machine Learning models including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432250" y="1501550"/>
            <a:ext cx="3558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Shallow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Decision Tree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Naive Bayes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K-Nearest Neighbor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Support Vector Machine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432250" y="2901250"/>
            <a:ext cx="390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Ensemble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Random Forest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AdaBoost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Extreme Gradient Boosting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32250" y="4068425"/>
            <a:ext cx="350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Deep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it" sz="1800">
                <a:solidFill>
                  <a:schemeClr val="dk2"/>
                </a:solidFill>
              </a:rPr>
              <a:t>Multi-Layer Perceptron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0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161" name="Google Shape;16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2" name="Google Shape;162;p20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0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4" name="Google Shape;164;p20"/>
          <p:cNvSpPr txBox="1"/>
          <p:nvPr/>
        </p:nvSpPr>
        <p:spPr>
          <a:xfrm>
            <a:off x="379825" y="747325"/>
            <a:ext cx="112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631700" y="1008438"/>
            <a:ext cx="588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And we introduce two </a:t>
            </a:r>
            <a:r>
              <a:rPr b="1" lang="it" sz="1800">
                <a:solidFill>
                  <a:schemeClr val="dk2"/>
                </a:solidFill>
              </a:rPr>
              <a:t>models designed by ourselves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163025" y="1658825"/>
            <a:ext cx="205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Custom Ensemble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4561650" y="1731250"/>
            <a:ext cx="20700" cy="27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0"/>
          <p:cNvSpPr txBox="1"/>
          <p:nvPr/>
        </p:nvSpPr>
        <p:spPr>
          <a:xfrm>
            <a:off x="5177475" y="1658825"/>
            <a:ext cx="357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Convolutional Neural Network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0399" y="2120525"/>
            <a:ext cx="1180443" cy="252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249" y="2530750"/>
            <a:ext cx="4408542" cy="17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1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179" name="Google Shape;17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0" name="Google Shape;180;p21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21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2" name="Google Shape;182;p21"/>
          <p:cNvSpPr txBox="1"/>
          <p:nvPr/>
        </p:nvSpPr>
        <p:spPr>
          <a:xfrm>
            <a:off x="379825" y="747325"/>
            <a:ext cx="10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8565925" y="4953996"/>
            <a:ext cx="10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0" y="0"/>
            <a:ext cx="276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66550" y="1036450"/>
            <a:ext cx="81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We trained all the models with </a:t>
            </a:r>
            <a:r>
              <a:rPr b="1" lang="it" sz="1800">
                <a:solidFill>
                  <a:schemeClr val="dk2"/>
                </a:solidFill>
              </a:rPr>
              <a:t>original 5D data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In addition, we trained SVM with </a:t>
            </a:r>
            <a:r>
              <a:rPr b="1" lang="it" sz="1800">
                <a:solidFill>
                  <a:schemeClr val="dk2"/>
                </a:solidFill>
              </a:rPr>
              <a:t>PCA </a:t>
            </a:r>
            <a:r>
              <a:rPr lang="it" sz="1800">
                <a:solidFill>
                  <a:schemeClr val="dk2"/>
                </a:solidFill>
              </a:rPr>
              <a:t>and </a:t>
            </a:r>
            <a:r>
              <a:rPr b="1" lang="it" sz="1800">
                <a:solidFill>
                  <a:schemeClr val="dk2"/>
                </a:solidFill>
              </a:rPr>
              <a:t>UMAP </a:t>
            </a:r>
            <a:r>
              <a:rPr lang="it" sz="1800">
                <a:solidFill>
                  <a:schemeClr val="dk2"/>
                </a:solidFill>
              </a:rPr>
              <a:t>reduced 2D data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363" y="1840400"/>
            <a:ext cx="5040000" cy="14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5375" y="3291205"/>
            <a:ext cx="5040000" cy="14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2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195" name="Google Shape;19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6" name="Google Shape;196;p22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22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8" name="Google Shape;198;p22"/>
          <p:cNvSpPr txBox="1"/>
          <p:nvPr/>
        </p:nvSpPr>
        <p:spPr>
          <a:xfrm>
            <a:off x="379825" y="747325"/>
            <a:ext cx="16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Evaluation &amp; Discussion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8565925" y="4954000"/>
            <a:ext cx="20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613400" y="1013100"/>
            <a:ext cx="59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Q1: Which classification models </a:t>
            </a:r>
            <a:r>
              <a:rPr b="1" lang="it" sz="1800">
                <a:solidFill>
                  <a:schemeClr val="dk2"/>
                </a:solidFill>
              </a:rPr>
              <a:t>performed best</a:t>
            </a:r>
            <a:r>
              <a:rPr lang="it" sz="1800">
                <a:solidFill>
                  <a:schemeClr val="dk2"/>
                </a:solidFill>
              </a:rPr>
              <a:t>? Why?</a:t>
            </a:r>
            <a:endParaRPr/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501875" y="1594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{1933DF1E-5F0C-44B9-ABF2-945AC4244CEF}</a:tableStyleId>
              </a:tblPr>
              <a:tblGrid>
                <a:gridCol w="783125"/>
                <a:gridCol w="1748750"/>
                <a:gridCol w="1354425"/>
              </a:tblGrid>
              <a:tr h="24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Rank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Model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F1-score (*)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0.8821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Custom Ensemble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u="sng"/>
                        <a:t>0.8801</a:t>
                      </a:r>
                      <a:endParaRPr u="sng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0.8791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204" name="Google Shape;204;p22"/>
          <p:cNvGraphicFramePr/>
          <p:nvPr/>
        </p:nvGraphicFramePr>
        <p:xfrm>
          <a:off x="501025" y="3528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{1933DF1E-5F0C-44B9-ABF2-945AC4244CEF}</a:tableStyleId>
              </a:tblPr>
              <a:tblGrid>
                <a:gridCol w="783975"/>
                <a:gridCol w="1748750"/>
                <a:gridCol w="1355275"/>
              </a:tblGrid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AdaBoost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0.7809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SVM w/ PCA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0.7540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12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Naive Bayes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0.6844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</a:tbl>
          </a:graphicData>
        </a:graphic>
      </p:graphicFrame>
      <p:sp>
        <p:nvSpPr>
          <p:cNvPr id="205" name="Google Shape;205;p22"/>
          <p:cNvSpPr txBox="1"/>
          <p:nvPr/>
        </p:nvSpPr>
        <p:spPr>
          <a:xfrm>
            <a:off x="4579300" y="1740575"/>
            <a:ext cx="4697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dk2"/>
                </a:solidFill>
              </a:rPr>
              <a:t>Ensemble averaging</a:t>
            </a:r>
            <a:r>
              <a:rPr lang="it" sz="1800">
                <a:solidFill>
                  <a:schemeClr val="dk2"/>
                </a:solidFill>
              </a:rPr>
              <a:t> reduces variance</a:t>
            </a:r>
            <a:br>
              <a:rPr lang="it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Tree-based methods are </a:t>
            </a:r>
            <a:r>
              <a:rPr b="1" lang="it" sz="1800">
                <a:solidFill>
                  <a:schemeClr val="dk2"/>
                </a:solidFill>
              </a:rPr>
              <a:t>less sensitive to imbalance</a:t>
            </a:r>
            <a:r>
              <a:rPr lang="it" sz="1800">
                <a:solidFill>
                  <a:schemeClr val="dk2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4579300" y="3615050"/>
            <a:ext cx="469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dk2"/>
                </a:solidFill>
              </a:rPr>
              <a:t>PCA </a:t>
            </a:r>
            <a:r>
              <a:rPr lang="it" sz="1800">
                <a:solidFill>
                  <a:schemeClr val="dk2"/>
                </a:solidFill>
              </a:rPr>
              <a:t>underperformed (see reminder)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dk2"/>
                </a:solidFill>
              </a:rPr>
              <a:t>Bayesian </a:t>
            </a:r>
            <a:r>
              <a:rPr b="1" lang="it" sz="1800">
                <a:solidFill>
                  <a:schemeClr val="dk2"/>
                </a:solidFill>
              </a:rPr>
              <a:t>hypothesis</a:t>
            </a:r>
            <a:r>
              <a:rPr lang="it" sz="1800">
                <a:solidFill>
                  <a:schemeClr val="dk2"/>
                </a:solidFill>
              </a:rPr>
              <a:t> may not be satisfied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3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212" name="Google Shape;212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3" name="Google Shape;213;p23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23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5" name="Google Shape;215;p23"/>
          <p:cNvSpPr txBox="1"/>
          <p:nvPr/>
        </p:nvSpPr>
        <p:spPr>
          <a:xfrm>
            <a:off x="379825" y="747325"/>
            <a:ext cx="16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Evaluation &amp; Discussion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8565925" y="4954000"/>
            <a:ext cx="18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280500" y="1054075"/>
            <a:ext cx="85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Q2: Does </a:t>
            </a:r>
            <a:r>
              <a:rPr b="1" lang="it" sz="1800">
                <a:solidFill>
                  <a:schemeClr val="dk2"/>
                </a:solidFill>
              </a:rPr>
              <a:t>dimensionality reduction</a:t>
            </a:r>
            <a:r>
              <a:rPr lang="it" sz="1800">
                <a:solidFill>
                  <a:schemeClr val="dk2"/>
                </a:solidFill>
              </a:rPr>
              <a:t> cause significant differences in performance?</a:t>
            </a:r>
            <a:endParaRPr/>
          </a:p>
        </p:txBody>
      </p:sp>
      <p:graphicFrame>
        <p:nvGraphicFramePr>
          <p:cNvPr id="220" name="Google Shape;220;p23"/>
          <p:cNvGraphicFramePr/>
          <p:nvPr/>
        </p:nvGraphicFramePr>
        <p:xfrm>
          <a:off x="1220250" y="2249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{1933DF1E-5F0C-44B9-ABF2-945AC4244CEF}</a:tableStyleId>
              </a:tblPr>
              <a:tblGrid>
                <a:gridCol w="2095150"/>
                <a:gridCol w="1512350"/>
                <a:gridCol w="3187500"/>
              </a:tblGrid>
              <a:tr h="40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Model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F1-score (*)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Comparison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SVM w/ PCA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0.7540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-14.20% vs SVM baseline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SVM w/ UMAP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0.8389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</a:rPr>
                        <a:t>-2.65% vs SVM baseline</a:t>
                      </a:r>
                      <a:endParaRPr u="sng"/>
                    </a:p>
                  </a:txBody>
                  <a:tcPr marT="91425" marB="91425" marR="91425" marL="91425" anchor="ctr">
                    <a:noFill/>
                  </a:tcPr>
                </a:tc>
              </a:tr>
            </a:tbl>
          </a:graphicData>
        </a:graphic>
      </p:graphicFrame>
      <p:sp>
        <p:nvSpPr>
          <p:cNvPr id="221" name="Google Shape;221;p23"/>
          <p:cNvSpPr txBox="1"/>
          <p:nvPr/>
        </p:nvSpPr>
        <p:spPr>
          <a:xfrm>
            <a:off x="212400" y="4026875"/>
            <a:ext cx="871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Since the dataset is already low-dimensional, dimensionality reduction causes </a:t>
            </a:r>
            <a:r>
              <a:rPr b="1" lang="it" sz="1800">
                <a:solidFill>
                  <a:schemeClr val="dk2"/>
                </a:solidFill>
              </a:rPr>
              <a:t>loss</a:t>
            </a:r>
            <a:r>
              <a:rPr b="1" lang="it" sz="1800">
                <a:solidFill>
                  <a:schemeClr val="dk2"/>
                </a:solidFill>
              </a:rPr>
              <a:t> of useful information</a:t>
            </a:r>
            <a:r>
              <a:rPr lang="it" sz="1800">
                <a:solidFill>
                  <a:schemeClr val="dk2"/>
                </a:solidFill>
              </a:rPr>
              <a:t>, so models underperform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4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227" name="Google Shape;22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8" name="Google Shape;228;p24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24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0" name="Google Shape;230;p24"/>
          <p:cNvSpPr txBox="1"/>
          <p:nvPr/>
        </p:nvSpPr>
        <p:spPr>
          <a:xfrm>
            <a:off x="379825" y="747325"/>
            <a:ext cx="16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Evaluation &amp; Discussion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8565925" y="4954000"/>
            <a:ext cx="20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1115100" y="1074575"/>
            <a:ext cx="6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Q3: Which algorithms are most sensitive to </a:t>
            </a:r>
            <a:r>
              <a:rPr b="1" lang="it" sz="1800">
                <a:solidFill>
                  <a:schemeClr val="dk2"/>
                </a:solidFill>
              </a:rPr>
              <a:t>data dimensionality</a:t>
            </a:r>
            <a:r>
              <a:rPr lang="it" sz="1800">
                <a:solidFill>
                  <a:schemeClr val="dk2"/>
                </a:solidFill>
              </a:rPr>
              <a:t>?</a:t>
            </a:r>
            <a:endParaRPr/>
          </a:p>
        </p:txBody>
      </p:sp>
      <p:graphicFrame>
        <p:nvGraphicFramePr>
          <p:cNvPr id="235" name="Google Shape;235;p24"/>
          <p:cNvGraphicFramePr/>
          <p:nvPr/>
        </p:nvGraphicFramePr>
        <p:xfrm>
          <a:off x="1220250" y="2249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{1933DF1E-5F0C-44B9-ABF2-945AC4244CEF}</a:tableStyleId>
              </a:tblPr>
              <a:tblGrid>
                <a:gridCol w="2095150"/>
                <a:gridCol w="1512350"/>
                <a:gridCol w="3187500"/>
              </a:tblGrid>
              <a:tr h="40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Model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F1-score (*)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Comparison</a:t>
                      </a:r>
                      <a:endParaRPr b="1"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SVM w/ PCA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0.7540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-14.20% vs SVM baseline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SVM w/ UMAP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0.8389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</a:rPr>
                        <a:t>-2.65% vs SVM baseline</a:t>
                      </a:r>
                      <a:endParaRPr u="sng"/>
                    </a:p>
                  </a:txBody>
                  <a:tcPr marT="91425" marB="91425" marR="91425" marL="91425" anchor="ctr">
                    <a:noFill/>
                  </a:tcPr>
                </a:tc>
              </a:tr>
            </a:tbl>
          </a:graphicData>
        </a:graphic>
      </p:graphicFrame>
      <p:sp>
        <p:nvSpPr>
          <p:cNvPr id="236" name="Google Shape;236;p24"/>
          <p:cNvSpPr txBox="1"/>
          <p:nvPr/>
        </p:nvSpPr>
        <p:spPr>
          <a:xfrm>
            <a:off x="212400" y="3885800"/>
            <a:ext cx="871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Deep models, Naive Bayes, and models trained on reduced data show </a:t>
            </a:r>
            <a:r>
              <a:rPr b="1" lang="it" sz="1800">
                <a:solidFill>
                  <a:schemeClr val="dk2"/>
                </a:solidFill>
              </a:rPr>
              <a:t>worse overall performances</a:t>
            </a:r>
            <a:r>
              <a:rPr lang="it" sz="1800">
                <a:solidFill>
                  <a:schemeClr val="dk2"/>
                </a:solidFill>
              </a:rPr>
              <a:t> and a </a:t>
            </a:r>
            <a:r>
              <a:rPr b="1" lang="it" sz="1800">
                <a:solidFill>
                  <a:schemeClr val="dk2"/>
                </a:solidFill>
              </a:rPr>
              <a:t>larger gap between class performances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37" name="Google Shape;237;p24"/>
          <p:cNvPicPr preferRelativeResize="0"/>
          <p:nvPr/>
        </p:nvPicPr>
        <p:blipFill rotWithShape="1">
          <a:blip r:embed="rId4">
            <a:alphaModFix/>
          </a:blip>
          <a:srcRect b="0" l="0" r="0" t="7663"/>
          <a:stretch/>
        </p:blipFill>
        <p:spPr>
          <a:xfrm>
            <a:off x="371888" y="1579925"/>
            <a:ext cx="8491727" cy="22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5"/>
          <p:cNvGrpSpPr/>
          <p:nvPr/>
        </p:nvGrpSpPr>
        <p:grpSpPr>
          <a:xfrm>
            <a:off x="-4775" y="78788"/>
            <a:ext cx="9150150" cy="668525"/>
            <a:chOff x="-4775" y="78788"/>
            <a:chExt cx="9150150" cy="668525"/>
          </a:xfrm>
        </p:grpSpPr>
        <p:pic>
          <p:nvPicPr>
            <p:cNvPr id="243" name="Google Shape;24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23637" y="78788"/>
              <a:ext cx="3896725" cy="668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4" name="Google Shape;244;p25"/>
            <p:cNvCxnSpPr/>
            <p:nvPr/>
          </p:nvCxnSpPr>
          <p:spPr>
            <a:xfrm flipH="1">
              <a:off x="-4775" y="414725"/>
              <a:ext cx="2500800" cy="9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5"/>
            <p:cNvCxnSpPr/>
            <p:nvPr/>
          </p:nvCxnSpPr>
          <p:spPr>
            <a:xfrm flipH="1">
              <a:off x="6640075" y="414413"/>
              <a:ext cx="2505300" cy="600"/>
            </a:xfrm>
            <a:prstGeom prst="straightConnector1">
              <a:avLst/>
            </a:prstGeom>
            <a:noFill/>
            <a:ln cap="flat" cmpd="sng" w="9525">
              <a:solidFill>
                <a:srgbClr val="394E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6" name="Google Shape;246;p25"/>
          <p:cNvSpPr txBox="1"/>
          <p:nvPr/>
        </p:nvSpPr>
        <p:spPr>
          <a:xfrm>
            <a:off x="379825" y="747325"/>
            <a:ext cx="16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" sz="12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Evaluation &amp; Discussion</a:t>
            </a:r>
            <a:endParaRPr b="0" i="0" sz="12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0" y="4950501"/>
            <a:ext cx="12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Cardia F. Loddo M. N.</a:t>
            </a:r>
            <a:endParaRPr b="0" i="0" sz="1000" u="none" cap="none" strike="noStrike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2222249" y="4950501"/>
            <a:ext cx="479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Phoneme Classification  A Comparative Study of Machine Learning Approaches</a:t>
            </a:r>
            <a:endParaRPr sz="10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8565925" y="4954000"/>
            <a:ext cx="29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285750" y="1065600"/>
            <a:ext cx="857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2"/>
                </a:solidFill>
              </a:rPr>
              <a:t>Q4: What are </a:t>
            </a:r>
            <a:r>
              <a:rPr b="1" lang="it" sz="1700">
                <a:solidFill>
                  <a:schemeClr val="dk2"/>
                </a:solidFill>
              </a:rPr>
              <a:t>strengths</a:t>
            </a:r>
            <a:r>
              <a:rPr lang="it" sz="1700">
                <a:solidFill>
                  <a:schemeClr val="dk2"/>
                </a:solidFill>
              </a:rPr>
              <a:t>, </a:t>
            </a:r>
            <a:r>
              <a:rPr b="1" lang="it" sz="1700">
                <a:solidFill>
                  <a:schemeClr val="dk2"/>
                </a:solidFill>
              </a:rPr>
              <a:t>limitations</a:t>
            </a:r>
            <a:r>
              <a:rPr lang="it" sz="1700">
                <a:solidFill>
                  <a:schemeClr val="dk2"/>
                </a:solidFill>
              </a:rPr>
              <a:t>, and </a:t>
            </a:r>
            <a:r>
              <a:rPr b="1" lang="it" sz="1700">
                <a:solidFill>
                  <a:schemeClr val="dk2"/>
                </a:solidFill>
              </a:rPr>
              <a:t>extensions/alternatives</a:t>
            </a:r>
            <a:r>
              <a:rPr lang="it" sz="1700">
                <a:solidFill>
                  <a:schemeClr val="dk2"/>
                </a:solidFill>
              </a:rPr>
              <a:t> of our approaches?</a:t>
            </a:r>
            <a:endParaRPr sz="1300"/>
          </a:p>
        </p:txBody>
      </p:sp>
      <p:cxnSp>
        <p:nvCxnSpPr>
          <p:cNvPr id="251" name="Google Shape;251;p25"/>
          <p:cNvCxnSpPr/>
          <p:nvPr/>
        </p:nvCxnSpPr>
        <p:spPr>
          <a:xfrm flipH="1">
            <a:off x="4565800" y="1664225"/>
            <a:ext cx="9000" cy="32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5"/>
          <p:cNvSpPr txBox="1"/>
          <p:nvPr/>
        </p:nvSpPr>
        <p:spPr>
          <a:xfrm>
            <a:off x="424775" y="1704450"/>
            <a:ext cx="362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2"/>
                </a:solidFill>
              </a:rPr>
              <a:t>Preprocessing &amp; Feature Extraction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5708100" y="1704450"/>
            <a:ext cx="223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2"/>
                </a:solidFill>
              </a:rPr>
              <a:t>Classification models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254" name="Google Shape;2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750" y="234330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3325" y="230175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750" y="317450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3325" y="317450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750" y="400570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3325" y="4047250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017000" y="2413200"/>
            <a:ext cx="348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Low dimension - </a:t>
            </a:r>
            <a:r>
              <a:rPr b="1" lang="it">
                <a:solidFill>
                  <a:schemeClr val="dk2"/>
                </a:solidFill>
              </a:rPr>
              <a:t>minimal preprocessing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1017000" y="3136700"/>
            <a:ext cx="343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2"/>
                </a:solidFill>
              </a:rPr>
              <a:t>Balancing </a:t>
            </a:r>
            <a:r>
              <a:rPr lang="it">
                <a:solidFill>
                  <a:schemeClr val="dk2"/>
                </a:solidFill>
              </a:rPr>
              <a:t>and dimensionality </a:t>
            </a:r>
            <a:r>
              <a:rPr b="1" lang="it">
                <a:solidFill>
                  <a:schemeClr val="dk2"/>
                </a:solidFill>
              </a:rPr>
              <a:t>reduction </a:t>
            </a:r>
            <a:r>
              <a:rPr lang="it">
                <a:solidFill>
                  <a:schemeClr val="dk2"/>
                </a:solidFill>
              </a:rPr>
              <a:t>underperform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1023875" y="4151300"/>
            <a:ext cx="34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Perform </a:t>
            </a:r>
            <a:r>
              <a:rPr b="1" lang="it">
                <a:solidFill>
                  <a:schemeClr val="dk2"/>
                </a:solidFill>
              </a:rPr>
              <a:t>data augmentation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5536525" y="2305500"/>
            <a:ext cx="348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2"/>
                </a:solidFill>
              </a:rPr>
              <a:t>Tree-based ensemble</a:t>
            </a:r>
            <a:r>
              <a:rPr lang="it">
                <a:solidFill>
                  <a:schemeClr val="dk2"/>
                </a:solidFill>
              </a:rPr>
              <a:t> models </a:t>
            </a:r>
            <a:r>
              <a:rPr lang="it">
                <a:solidFill>
                  <a:schemeClr val="dk2"/>
                </a:solidFill>
              </a:rPr>
              <a:t>show great performances F1-score &gt; 87%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5536525" y="3107975"/>
            <a:ext cx="299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2"/>
                </a:solidFill>
              </a:rPr>
              <a:t>Neural networks underfit</a:t>
            </a:r>
            <a:r>
              <a:rPr lang="it">
                <a:solidFill>
                  <a:schemeClr val="dk2"/>
                </a:solidFill>
              </a:rPr>
              <a:t>: many parameters, few data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5635050" y="4333050"/>
            <a:ext cx="35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5536525" y="4043600"/>
            <a:ext cx="362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Perform best </a:t>
            </a:r>
            <a:r>
              <a:rPr b="1" lang="it">
                <a:solidFill>
                  <a:schemeClr val="dk2"/>
                </a:solidFill>
              </a:rPr>
              <a:t>(hyper)parameter optimization</a:t>
            </a:r>
            <a:r>
              <a:rPr lang="it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2"/>
                </a:solidFill>
              </a:rPr>
              <a:t>Improve ensembling</a:t>
            </a:r>
            <a:r>
              <a:rPr lang="it">
                <a:solidFill>
                  <a:schemeClr val="dk2"/>
                </a:solidFill>
              </a:rPr>
              <a:t> (voting, stacking, …)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/>
        </p:nvSpPr>
        <p:spPr>
          <a:xfrm>
            <a:off x="2362050" y="133875"/>
            <a:ext cx="44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Informatica Applicata e Data Analytics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3303550" y="4466425"/>
            <a:ext cx="238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Academic Year </a:t>
            </a:r>
            <a:r>
              <a:rPr b="1" i="0" lang="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b="1"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b="1"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283200" y="1169000"/>
            <a:ext cx="857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77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Phoneme Classification </a:t>
            </a:r>
            <a:endParaRPr b="1"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7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Comparative Study of Machine Learning Approaches</a:t>
            </a:r>
            <a:endParaRPr b="1"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750" y="82600"/>
            <a:ext cx="33718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4299000" y="128188"/>
            <a:ext cx="4845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t" sz="13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sz="13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t" sz="13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sz="13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it" sz="1300">
                <a:solidFill>
                  <a:srgbClr val="394E7F"/>
                </a:solidFill>
                <a:latin typeface="Calibri"/>
                <a:ea typeface="Calibri"/>
                <a:cs typeface="Calibri"/>
                <a:sym typeface="Calibri"/>
              </a:rPr>
              <a:t>Corso di Laurea Magistrale in Informatica</a:t>
            </a:r>
            <a:endParaRPr sz="1300">
              <a:solidFill>
                <a:srgbClr val="394E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26"/>
          <p:cNvCxnSpPr/>
          <p:nvPr/>
        </p:nvCxnSpPr>
        <p:spPr>
          <a:xfrm flipH="1">
            <a:off x="4167580" y="212400"/>
            <a:ext cx="2400" cy="606600"/>
          </a:xfrm>
          <a:prstGeom prst="straightConnector1">
            <a:avLst/>
          </a:prstGeom>
          <a:noFill/>
          <a:ln cap="flat" cmpd="sng" w="9525">
            <a:solidFill>
              <a:srgbClr val="27375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26"/>
          <p:cNvSpPr txBox="1"/>
          <p:nvPr/>
        </p:nvSpPr>
        <p:spPr>
          <a:xfrm>
            <a:off x="4048061" y="4011683"/>
            <a:ext cx="106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438750" y="2926913"/>
            <a:ext cx="2558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1" i="0" lang="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Alessandro Giuliani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4914050" y="2915363"/>
            <a:ext cx="39024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Candidates: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Francesco Cardia </a:t>
            </a:r>
            <a:r>
              <a:rPr b="0" i="0" lang="it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60/</a:t>
            </a:r>
            <a:r>
              <a:rPr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99/00017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Marco Niccolò Loddo </a:t>
            </a:r>
            <a:r>
              <a:rPr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60/99/00022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599" y="2624775"/>
            <a:ext cx="1373903" cy="13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